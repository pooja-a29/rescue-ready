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2CECA8A-6AE6-4B08-8431-8FBC39FF4F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2CECA8A-6AE6-4B08-8431-8FBC39FF4F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2CECA8A-6AE6-4B08-8431-8FBC39FF4F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32CECA8A-6AE6-4B08-8431-8FBC39FF4F5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2CECA8A-6AE6-4B08-8431-8FBC39FF4F57}"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2CECA8A-6AE6-4B08-8431-8FBC39FF4F57}"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CECA8A-6AE6-4B08-8431-8FBC39FF4F57}"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2CECA8A-6AE6-4B08-8431-8FBC39FF4F5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2CECA8A-6AE6-4B08-8431-8FBC39FF4F57}"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2CECA8A-6AE6-4B08-8431-8FBC39FF4F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2CECA8A-6AE6-4B08-8431-8FBC39FF4F5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535784-2113-4E95-A660-4CC393F2D91D}"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CECA8A-6AE6-4B08-8431-8FBC39FF4F57}"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535784-2113-4E95-A660-4CC393F2D91D}"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solidFill>
                  <a:srgbClr val="CC0000"/>
                </a:solidFill>
                <a:latin typeface="Times New Roman" panose="02020603050405020304" pitchFamily="18" charset="0"/>
                <a:cs typeface="Times New Roman" panose="02020603050405020304" pitchFamily="18" charset="0"/>
              </a:rPr>
              <a:t>RESCUE READY: Smart Web-Based Emergency                   Alert and Response System</a:t>
            </a:r>
            <a:br>
              <a:rPr lang="en-US" sz="3600" b="1" u="sng" dirty="0">
                <a:solidFill>
                  <a:schemeClr val="accent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br>
            <a:endParaRPr lang="en-IN" sz="3600" dirty="0"/>
          </a:p>
        </p:txBody>
      </p:sp>
      <p:sp>
        <p:nvSpPr>
          <p:cNvPr id="3" name="Content Placeholder 2"/>
          <p:cNvSpPr>
            <a:spLocks noGrp="1"/>
          </p:cNvSpPr>
          <p:nvPr>
            <p:ph idx="1"/>
          </p:nvPr>
        </p:nvSpPr>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Batch -31</a:t>
            </a:r>
            <a:endParaRPr lang="en-US" b="1" dirty="0">
              <a:latin typeface="Times New Roman" panose="02020603050405020304" pitchFamily="18" charset="0"/>
              <a:cs typeface="Times New Roman" panose="02020603050405020304" pitchFamily="18" charset="0"/>
            </a:endParaRPr>
          </a:p>
          <a:p>
            <a:pPr marL="0" indent="0" algn="ctr">
              <a:buNone/>
            </a:pPr>
            <a:r>
              <a:rPr lang="en-US" b="1" dirty="0"/>
              <a:t>Team Members:</a:t>
            </a:r>
            <a:endParaRPr lang="en-US" b="1" dirty="0"/>
          </a:p>
          <a:p>
            <a:pPr marL="0" indent="0" algn="ctr">
              <a:buNone/>
            </a:pPr>
            <a:r>
              <a:rPr lang="en-US" dirty="0"/>
              <a:t>PAVITHRA S (2023PECCS312)</a:t>
            </a:r>
            <a:endParaRPr lang="en-US" dirty="0"/>
          </a:p>
          <a:p>
            <a:pPr marL="0" indent="0" algn="ctr">
              <a:buNone/>
            </a:pPr>
            <a:r>
              <a:rPr lang="en-US" dirty="0"/>
              <a:t>POOJA A (2023PECCS312)</a:t>
            </a:r>
            <a:endParaRPr lang="en-US" dirty="0"/>
          </a:p>
          <a:p>
            <a:pPr marL="0" indent="0" algn="ctr">
              <a:buNone/>
            </a:pPr>
            <a:r>
              <a:rPr lang="en-US" b="1" dirty="0"/>
              <a:t>Department: </a:t>
            </a:r>
            <a:r>
              <a:rPr lang="en-US" dirty="0"/>
              <a:t>Computer Science And Engineering</a:t>
            </a:r>
            <a:endParaRPr lang="en-US" dirty="0"/>
          </a:p>
          <a:p>
            <a:pPr marL="0" indent="0" algn="ctr">
              <a:buNone/>
            </a:pPr>
            <a:r>
              <a:rPr lang="en-US" b="1" dirty="0"/>
              <a:t>Coordinator Name: </a:t>
            </a:r>
            <a:r>
              <a:rPr lang="en-US" dirty="0" err="1"/>
              <a:t>Mr.C.Elangovan</a:t>
            </a:r>
            <a:r>
              <a:rPr lang="en-US" dirty="0"/>
              <a:t>, </a:t>
            </a:r>
            <a:r>
              <a:rPr lang="en-US" dirty="0" err="1"/>
              <a:t>Mrs.Vinmathi</a:t>
            </a:r>
            <a:endParaRPr lang="en-US" dirty="0"/>
          </a:p>
          <a:p>
            <a:pPr marL="0" indent="0" algn="ctr">
              <a:buNone/>
            </a:pPr>
            <a:r>
              <a:rPr lang="en-US" b="1" dirty="0"/>
              <a:t>Date:</a:t>
            </a:r>
            <a:r>
              <a:rPr lang="en-US" dirty="0"/>
              <a:t> 27-10-2025</a:t>
            </a:r>
            <a:endParaRPr lang="en-US" dirty="0"/>
          </a:p>
          <a:p>
            <a:pPr marL="0" indent="0" algn="ctr">
              <a:buNone/>
            </a:pP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CC0000"/>
                </a:solidFill>
                <a:latin typeface="Times New Roman" panose="02020603050405020304" pitchFamily="18" charset="0"/>
                <a:cs typeface="Times New Roman" panose="02020603050405020304" pitchFamily="18" charset="0"/>
              </a:rPr>
              <a:t>Problem statement</a:t>
            </a:r>
            <a:endParaRPr lang="en-IN" b="1" dirty="0">
              <a:solidFill>
                <a:srgbClr val="CC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marL="0" lvl="0" indent="0">
              <a:lnSpc>
                <a:spcPct val="100000"/>
              </a:lnSpc>
              <a:spcBef>
                <a:spcPts val="0"/>
              </a:spcBef>
              <a:buClr>
                <a:schemeClr val="dk1"/>
              </a:buClr>
              <a:buSzPct val="100000"/>
              <a:buNone/>
            </a:pPr>
            <a:r>
              <a:rPr lang="en-US" b="1" dirty="0">
                <a:latin typeface="Times New Roman" panose="02020603050405020304" pitchFamily="18" charset="0"/>
                <a:ea typeface="Calibri" panose="020F0502020204030204"/>
                <a:cs typeface="Times New Roman" panose="02020603050405020304" pitchFamily="18" charset="0"/>
                <a:sym typeface="Calibri" panose="020F0502020204030204"/>
              </a:rPr>
              <a:t>Emergencies require immediate and accurate responses, yet existing solutions often lack real-time support and comprehensive guidance.</a:t>
            </a:r>
            <a:endParaRPr lang="en-US" b="1" dirty="0">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nSpc>
                <a:spcPct val="100000"/>
              </a:lnSpc>
              <a:spcBef>
                <a:spcPts val="385"/>
              </a:spcBef>
              <a:buClr>
                <a:schemeClr val="dk1"/>
              </a:buClr>
              <a:buSzPct val="100000"/>
              <a:buNone/>
            </a:pPr>
            <a:endParaRPr lang="en-US"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nSpc>
                <a:spcPct val="100000"/>
              </a:lnSpc>
              <a:spcBef>
                <a:spcPts val="385"/>
              </a:spcBef>
              <a:buClr>
                <a:schemeClr val="dk1"/>
              </a:buClr>
              <a:buSzPct val="100000"/>
              <a:buNone/>
            </a:pPr>
            <a:r>
              <a:rPr lang="en-US" b="1" dirty="0">
                <a:latin typeface="Times New Roman" panose="02020603050405020304" pitchFamily="18" charset="0"/>
                <a:ea typeface="Arial" panose="020B0604020202020204"/>
                <a:cs typeface="Times New Roman" panose="02020603050405020304" pitchFamily="18" charset="0"/>
                <a:sym typeface="Arial" panose="020B0604020202020204"/>
              </a:rPr>
              <a:t>Current apps fall short in integrating advanced technologies like AI</a:t>
            </a:r>
            <a:endParaRPr lang="en-US"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nSpc>
                <a:spcPct val="100000"/>
              </a:lnSpc>
              <a:spcBef>
                <a:spcPts val="385"/>
              </a:spcBef>
              <a:buClr>
                <a:schemeClr val="dk1"/>
              </a:buClr>
              <a:buSzPct val="100000"/>
              <a:buNone/>
            </a:pPr>
            <a:r>
              <a:rPr lang="en-US" b="1" dirty="0">
                <a:latin typeface="Times New Roman" panose="02020603050405020304" pitchFamily="18" charset="0"/>
                <a:ea typeface="Arial" panose="020B0604020202020204"/>
                <a:cs typeface="Times New Roman" panose="02020603050405020304" pitchFamily="18" charset="0"/>
                <a:sym typeface="Arial" panose="020B0604020202020204"/>
              </a:rPr>
              <a:t>assessments and AR-guided first aid. There is a need for a unified</a:t>
            </a:r>
            <a:endParaRPr lang="en-US"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nSpc>
                <a:spcPct val="100000"/>
              </a:lnSpc>
              <a:spcBef>
                <a:spcPts val="385"/>
              </a:spcBef>
              <a:buClr>
                <a:schemeClr val="dk1"/>
              </a:buClr>
              <a:buSzPct val="100000"/>
              <a:buNone/>
            </a:pPr>
            <a:r>
              <a:rPr lang="en-US" b="1" dirty="0">
                <a:latin typeface="Times New Roman" panose="02020603050405020304" pitchFamily="18" charset="0"/>
                <a:ea typeface="Arial" panose="020B0604020202020204"/>
                <a:cs typeface="Times New Roman" panose="02020603050405020304" pitchFamily="18" charset="0"/>
                <a:sym typeface="Arial" panose="020B0604020202020204"/>
              </a:rPr>
              <a:t>emergency response app that enhances user safety with real-time</a:t>
            </a:r>
            <a:endParaRPr lang="en-US"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nSpc>
                <a:spcPct val="100000"/>
              </a:lnSpc>
              <a:spcBef>
                <a:spcPts val="385"/>
              </a:spcBef>
              <a:buClr>
                <a:schemeClr val="dk1"/>
              </a:buClr>
              <a:buSzPct val="100000"/>
              <a:buNone/>
            </a:pPr>
            <a:r>
              <a:rPr lang="en-US" b="1" dirty="0">
                <a:latin typeface="Times New Roman" panose="02020603050405020304" pitchFamily="18" charset="0"/>
                <a:ea typeface="Arial" panose="020B0604020202020204"/>
                <a:cs typeface="Times New Roman" panose="02020603050405020304" pitchFamily="18" charset="0"/>
                <a:sym typeface="Arial" panose="020B0604020202020204"/>
              </a:rPr>
              <a:t>alerts, health monitoring, and clear, actionable guidance.  </a:t>
            </a:r>
            <a:endParaRPr lang="en-US" b="1" dirty="0">
              <a:latin typeface="Times New Roman" panose="02020603050405020304" pitchFamily="18" charset="0"/>
              <a:ea typeface="Arial" panose="020B0604020202020204"/>
              <a:cs typeface="Times New Roman" panose="02020603050405020304" pitchFamily="18" charset="0"/>
              <a:sym typeface="Arial" panose="020B0604020202020204"/>
            </a:endParaRPr>
          </a:p>
          <a:p>
            <a:pPr marL="0" lvl="0" indent="0">
              <a:lnSpc>
                <a:spcPct val="100000"/>
              </a:lnSpc>
              <a:spcBef>
                <a:spcPts val="385"/>
              </a:spcBef>
              <a:buClr>
                <a:schemeClr val="dk1"/>
              </a:buClr>
              <a:buSzPct val="100000"/>
              <a:buNone/>
            </a:pPr>
            <a:endParaRPr lang="en-US" b="1" dirty="0">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lvl="0" indent="0">
              <a:lnSpc>
                <a:spcPct val="100000"/>
              </a:lnSpc>
              <a:spcBef>
                <a:spcPts val="385"/>
              </a:spcBef>
              <a:buClr>
                <a:schemeClr val="dk1"/>
              </a:buClr>
              <a:buSzPct val="100000"/>
              <a:buNone/>
            </a:pPr>
            <a:r>
              <a:rPr lang="en-US" b="1" dirty="0">
                <a:latin typeface="Times New Roman" panose="02020603050405020304" pitchFamily="18" charset="0"/>
                <a:ea typeface="Calibri" panose="020F0502020204030204"/>
                <a:cs typeface="Times New Roman" panose="02020603050405020304" pitchFamily="18" charset="0"/>
                <a:sym typeface="Calibri" panose="020F0502020204030204"/>
              </a:rPr>
              <a:t>Mapped SDG Goal(s)</a:t>
            </a:r>
            <a:br>
              <a:rPr lang="en-US" dirty="0">
                <a:latin typeface="Times New Roman" panose="02020603050405020304" pitchFamily="18" charset="0"/>
                <a:ea typeface="Calibri" panose="020F0502020204030204"/>
                <a:cs typeface="Times New Roman" panose="02020603050405020304" pitchFamily="18" charset="0"/>
                <a:sym typeface="Calibri" panose="020F0502020204030204"/>
              </a:rPr>
            </a:br>
            <a:r>
              <a:rPr lang="en-US" b="1" dirty="0">
                <a:latin typeface="Times New Roman" panose="02020603050405020304" pitchFamily="18" charset="0"/>
                <a:ea typeface="Calibri" panose="020F0502020204030204"/>
                <a:cs typeface="Times New Roman" panose="02020603050405020304" pitchFamily="18" charset="0"/>
                <a:sym typeface="Calibri" panose="020F0502020204030204"/>
              </a:rPr>
              <a:t>SDG 3</a:t>
            </a:r>
            <a:r>
              <a:rPr lang="en-US" dirty="0">
                <a:latin typeface="Times New Roman" panose="02020603050405020304" pitchFamily="18" charset="0"/>
                <a:ea typeface="Calibri" panose="020F0502020204030204"/>
                <a:cs typeface="Times New Roman" panose="02020603050405020304" pitchFamily="18" charset="0"/>
                <a:sym typeface="Calibri" panose="020F0502020204030204"/>
              </a:rPr>
              <a:t> – good health and well-being</a:t>
            </a:r>
            <a:br>
              <a:rPr lang="en-US" dirty="0">
                <a:latin typeface="Times New Roman" panose="02020603050405020304" pitchFamily="18" charset="0"/>
                <a:ea typeface="Calibri" panose="020F0502020204030204"/>
                <a:cs typeface="Times New Roman" panose="02020603050405020304" pitchFamily="18" charset="0"/>
                <a:sym typeface="Calibri" panose="020F0502020204030204"/>
              </a:rPr>
            </a:br>
            <a:r>
              <a:rPr lang="en-US" b="1" dirty="0">
                <a:latin typeface="Times New Roman" panose="02020603050405020304" pitchFamily="18" charset="0"/>
                <a:ea typeface="Calibri" panose="020F0502020204030204"/>
                <a:cs typeface="Times New Roman" panose="02020603050405020304" pitchFamily="18" charset="0"/>
                <a:sym typeface="Calibri" panose="020F0502020204030204"/>
              </a:rPr>
              <a:t>Target 6.1</a:t>
            </a:r>
            <a:r>
              <a:rPr lang="en-US" dirty="0">
                <a:latin typeface="Times New Roman" panose="02020603050405020304" pitchFamily="18" charset="0"/>
                <a:ea typeface="Calibri" panose="020F0502020204030204"/>
                <a:cs typeface="Times New Roman" panose="02020603050405020304" pitchFamily="18" charset="0"/>
                <a:sym typeface="Calibri" panose="020F0502020204030204"/>
              </a:rPr>
              <a:t>: By 2025, </a:t>
            </a:r>
            <a:r>
              <a:rPr lang="en-US" b="1" dirty="0">
                <a:latin typeface="Times New Roman" panose="02020603050405020304" pitchFamily="18" charset="0"/>
                <a:ea typeface="Arial" panose="020B0604020202020204"/>
                <a:cs typeface="Times New Roman" panose="02020603050405020304" pitchFamily="18" charset="0"/>
                <a:sym typeface="Arial" panose="020B0604020202020204"/>
              </a:rPr>
              <a:t>Our app aims to bridge this gap, providing swift, accurate, and accessible emergency support</a:t>
            </a:r>
            <a:r>
              <a:rPr lang="en-US" b="1" dirty="0">
                <a:latin typeface="Calibri" panose="020F0502020204030204"/>
                <a:ea typeface="Calibri" panose="020F0502020204030204"/>
                <a:cs typeface="Calibri" panose="020F0502020204030204"/>
                <a:sym typeface="Calibri" panose="020F0502020204030204"/>
              </a:rPr>
              <a:t>.</a:t>
            </a:r>
            <a:endParaRPr lang="en-US" b="1" dirty="0">
              <a:latin typeface="Calibri" panose="020F0502020204030204"/>
              <a:ea typeface="Calibri" panose="020F0502020204030204"/>
              <a:cs typeface="Calibri" panose="020F0502020204030204"/>
              <a:sym typeface="Calibri" panose="020F0502020204030204"/>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PROPOSED SOLUTION</a:t>
            </a:r>
            <a:br>
              <a:rPr lang="en-IN" dirty="0">
                <a:solidFill>
                  <a:schemeClr val="accent1"/>
                </a:solidFill>
                <a:latin typeface="Times New Roman" panose="02020603050405020304"/>
                <a:ea typeface="Times New Roman" panose="02020603050405020304"/>
                <a:cs typeface="Times New Roman" panose="02020603050405020304"/>
                <a:sym typeface="Times New Roman" panose="02020603050405020304"/>
              </a:rPr>
            </a:br>
            <a:endParaRPr lang="en-IN" dirty="0"/>
          </a:p>
        </p:txBody>
      </p:sp>
      <p:sp>
        <p:nvSpPr>
          <p:cNvPr id="3" name="Content Placeholder 2"/>
          <p:cNvSpPr>
            <a:spLocks noGrp="1"/>
          </p:cNvSpPr>
          <p:nvPr>
            <p:ph idx="1"/>
          </p:nvPr>
        </p:nvSpPr>
        <p:spPr>
          <a:xfrm>
            <a:off x="838200" y="1202635"/>
            <a:ext cx="10515600" cy="4974328"/>
          </a:xfrm>
        </p:spPr>
        <p:txBody>
          <a:bodyPr>
            <a:normAutofit/>
          </a:bodyPr>
          <a:lstStyle/>
          <a:p>
            <a:pPr marL="342900" lvl="0" indent="-342900">
              <a:lnSpc>
                <a:spcPct val="100000"/>
              </a:lnSpc>
              <a:spcBef>
                <a:spcPts val="0"/>
              </a:spcBef>
              <a:buClr>
                <a:schemeClr val="dk1"/>
              </a:buClr>
              <a:buSzPts val="2000"/>
            </a:pPr>
            <a:r>
              <a:rPr lang="en-US" dirty="0"/>
              <a:t>O</a:t>
            </a:r>
            <a:r>
              <a:rPr lang="en-US" sz="2400" dirty="0"/>
              <a:t>ur proposed solution is a comprehensive</a:t>
            </a:r>
            <a:r>
              <a:rPr lang="en-US" sz="2400" dirty="0">
                <a:latin typeface="Arial Black" panose="020B0A04020102020204"/>
                <a:ea typeface="Arial Black" panose="020B0A04020102020204"/>
                <a:cs typeface="Arial Black" panose="020B0A04020102020204"/>
                <a:sym typeface="Arial Black" panose="020B0A04020102020204"/>
              </a:rPr>
              <a:t> emergency response app</a:t>
            </a:r>
            <a:r>
              <a:rPr lang="en-US" sz="2400" dirty="0"/>
              <a:t> that integrates advanced technologies to enhance user safety and support. The app will feature</a:t>
            </a:r>
            <a:r>
              <a:rPr lang="en-US" sz="2400" dirty="0">
                <a:solidFill>
                  <a:srgbClr val="366092"/>
                </a:solidFill>
              </a:rPr>
              <a:t> </a:t>
            </a:r>
            <a:r>
              <a:rPr lang="en-US" sz="2400" b="1" dirty="0">
                <a:solidFill>
                  <a:srgbClr val="CC0000"/>
                </a:solidFill>
                <a:latin typeface="Arial Rounded"/>
                <a:ea typeface="Arial Rounded"/>
                <a:cs typeface="Arial Rounded"/>
                <a:sym typeface="Arial Rounded"/>
              </a:rPr>
              <a:t>real-time SOS alerts, AI-driven health assessments, AR-guided first aid, and continuous health monitoring through connected devices</a:t>
            </a:r>
            <a:r>
              <a:rPr lang="en-US" sz="2400" b="1" dirty="0">
                <a:solidFill>
                  <a:srgbClr val="B2A0C7"/>
                </a:solidFill>
                <a:latin typeface="Arial Rounded"/>
                <a:ea typeface="Arial Rounded"/>
                <a:cs typeface="Arial Rounded"/>
                <a:sym typeface="Arial Rounded"/>
              </a:rPr>
              <a:t>.</a:t>
            </a:r>
            <a:endParaRPr lang="en-US" sz="2400" b="1" dirty="0">
              <a:latin typeface="Arial Rounded"/>
              <a:ea typeface="Arial Rounded"/>
              <a:cs typeface="Arial Rounded"/>
              <a:sym typeface="Arial Rounded"/>
            </a:endParaRPr>
          </a:p>
          <a:p>
            <a:pPr marL="342900" lvl="0" indent="-342900">
              <a:lnSpc>
                <a:spcPct val="100000"/>
              </a:lnSpc>
              <a:spcBef>
                <a:spcPts val="400"/>
              </a:spcBef>
              <a:buClr>
                <a:schemeClr val="dk1"/>
              </a:buClr>
              <a:buSzPts val="2000"/>
            </a:pPr>
            <a:r>
              <a:rPr lang="en-US" sz="2400" dirty="0"/>
              <a:t>It aims to provide immediate, accurate assistance by connecting users with emergency contacts and responders quickly and efficiently. This unified approach ensures that users have all the necessary tools to handle emergencies effectively, reducing response times and improving outcomes.</a:t>
            </a:r>
            <a:endParaRPr lang="en-US" sz="2400" dirty="0"/>
          </a:p>
          <a:p>
            <a:endParaRPr lang="en-IN" dirty="0"/>
          </a:p>
        </p:txBody>
      </p:sp>
      <p:pic>
        <p:nvPicPr>
          <p:cNvPr id="5" name="Picture 4" descr="A screenshot of a computer&#10;&#10;AI-generated content may be incorrect."/>
          <p:cNvPicPr>
            <a:picLocks noChangeAspect="1"/>
          </p:cNvPicPr>
          <p:nvPr/>
        </p:nvPicPr>
        <p:blipFill>
          <a:blip r:embed="rId1">
            <a:extLst>
              <a:ext uri="{28A0092B-C50C-407E-A947-70E740481C1C}">
                <a14:useLocalDpi xmlns:a14="http://schemas.microsoft.com/office/drawing/2010/main" val="0"/>
              </a:ext>
            </a:extLst>
          </a:blip>
          <a:srcRect l="35624" t="20435" r="34946" b="60236"/>
          <a:stretch>
            <a:fillRect/>
          </a:stretch>
        </p:blipFill>
        <p:spPr>
          <a:xfrm>
            <a:off x="4204253" y="4851400"/>
            <a:ext cx="3588026" cy="13255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IMPLEMENTATION PLAN</a:t>
            </a:r>
            <a:br>
              <a:rPr lang="en-IN" dirty="0">
                <a:solidFill>
                  <a:schemeClr val="accent1"/>
                </a:solidFill>
                <a:latin typeface="Times New Roman" panose="02020603050405020304"/>
                <a:ea typeface="Times New Roman" panose="02020603050405020304"/>
                <a:cs typeface="Times New Roman" panose="02020603050405020304"/>
                <a:sym typeface="Times New Roman" panose="02020603050405020304"/>
              </a:rPr>
            </a:br>
            <a:endParaRPr lang="en-IN" dirty="0"/>
          </a:p>
        </p:txBody>
      </p:sp>
      <p:sp>
        <p:nvSpPr>
          <p:cNvPr id="3" name="Content Placeholder 2"/>
          <p:cNvSpPr>
            <a:spLocks noGrp="1"/>
          </p:cNvSpPr>
          <p:nvPr>
            <p:ph idx="1"/>
          </p:nvPr>
        </p:nvSpPr>
        <p:spPr>
          <a:xfrm>
            <a:off x="838200" y="1557268"/>
            <a:ext cx="10515600" cy="4351338"/>
          </a:xfrm>
        </p:spPr>
        <p:txBody>
          <a:bodyPr/>
          <a:lstStyle/>
          <a:p>
            <a:pPr marL="0" lvl="0" indent="0">
              <a:lnSpc>
                <a:spcPct val="100000"/>
              </a:lnSpc>
              <a:spcBef>
                <a:spcPts val="0"/>
              </a:spcBef>
              <a:buClr>
                <a:schemeClr val="dk1"/>
              </a:buClr>
              <a:buSzPts val="2000"/>
              <a:buNone/>
            </a:pPr>
            <a:r>
              <a:rPr lang="en-US" b="1" dirty="0">
                <a:latin typeface="Arial Rounded"/>
                <a:ea typeface="Arial Rounded"/>
                <a:cs typeface="Arial Rounded"/>
                <a:sym typeface="Arial Rounded"/>
              </a:rPr>
              <a:t>1. Requirement Gathering</a:t>
            </a:r>
            <a:endParaRPr lang="en-US" b="1" dirty="0">
              <a:latin typeface="Arial Rounded"/>
              <a:ea typeface="Arial Rounded"/>
              <a:cs typeface="Arial Rounded"/>
              <a:sym typeface="Arial Rounded"/>
            </a:endParaRPr>
          </a:p>
          <a:p>
            <a:pPr marL="0" lvl="0" indent="0">
              <a:lnSpc>
                <a:spcPct val="100000"/>
              </a:lnSpc>
              <a:spcBef>
                <a:spcPts val="400"/>
              </a:spcBef>
              <a:buClr>
                <a:schemeClr val="dk1"/>
              </a:buClr>
              <a:buSzPts val="2000"/>
              <a:buNone/>
            </a:pPr>
            <a:r>
              <a:rPr lang="en-US" b="1" dirty="0">
                <a:latin typeface="Arial Rounded"/>
                <a:ea typeface="Arial Rounded"/>
                <a:cs typeface="Arial Rounded"/>
                <a:sym typeface="Arial Rounded"/>
              </a:rPr>
              <a:t>2. Tech Stack Selection</a:t>
            </a:r>
            <a:endParaRPr lang="en-US" b="1" dirty="0">
              <a:latin typeface="Arial Rounded"/>
              <a:ea typeface="Arial Rounded"/>
              <a:cs typeface="Arial Rounded"/>
              <a:sym typeface="Arial Rounded"/>
            </a:endParaRPr>
          </a:p>
          <a:p>
            <a:pPr marL="0" lvl="0" indent="0">
              <a:lnSpc>
                <a:spcPct val="100000"/>
              </a:lnSpc>
              <a:spcBef>
                <a:spcPts val="400"/>
              </a:spcBef>
              <a:buClr>
                <a:schemeClr val="dk1"/>
              </a:buClr>
              <a:buSzPts val="2000"/>
              <a:buNone/>
            </a:pPr>
            <a:r>
              <a:rPr lang="en-US" b="1" dirty="0">
                <a:latin typeface="Arial Rounded"/>
                <a:ea typeface="Arial Rounded"/>
                <a:cs typeface="Arial Rounded"/>
                <a:sym typeface="Arial Rounded"/>
              </a:rPr>
              <a:t>3. Module-wise Implementation</a:t>
            </a:r>
            <a:endParaRPr lang="en-US" b="1" dirty="0">
              <a:latin typeface="Arial Rounded"/>
              <a:ea typeface="Arial Rounded"/>
              <a:cs typeface="Arial Rounded"/>
              <a:sym typeface="Arial Rounded"/>
            </a:endParaRPr>
          </a:p>
          <a:p>
            <a:pPr marL="0" lvl="0" indent="0">
              <a:lnSpc>
                <a:spcPct val="100000"/>
              </a:lnSpc>
              <a:spcBef>
                <a:spcPts val="400"/>
              </a:spcBef>
              <a:buClr>
                <a:schemeClr val="dk1"/>
              </a:buClr>
              <a:buSzPts val="2000"/>
              <a:buNone/>
            </a:pPr>
            <a:r>
              <a:rPr lang="en-US" b="1" dirty="0">
                <a:latin typeface="Arial Rounded"/>
                <a:ea typeface="Arial Rounded"/>
                <a:cs typeface="Arial Rounded"/>
                <a:sym typeface="Arial Rounded"/>
              </a:rPr>
              <a:t>4.Testing</a:t>
            </a:r>
            <a:endParaRPr lang="en-US" b="1" dirty="0">
              <a:latin typeface="Arial Rounded"/>
              <a:ea typeface="Arial Rounded"/>
              <a:cs typeface="Arial Rounded"/>
              <a:sym typeface="Arial Rounded"/>
            </a:endParaRPr>
          </a:p>
          <a:p>
            <a:pPr marL="0" lvl="0" indent="0">
              <a:lnSpc>
                <a:spcPct val="100000"/>
              </a:lnSpc>
              <a:spcBef>
                <a:spcPts val="400"/>
              </a:spcBef>
              <a:buClr>
                <a:schemeClr val="dk1"/>
              </a:buClr>
              <a:buSzPts val="2000"/>
              <a:buNone/>
            </a:pPr>
            <a:r>
              <a:rPr lang="en-US" b="1" dirty="0">
                <a:latin typeface="Arial Rounded"/>
                <a:ea typeface="Arial Rounded"/>
                <a:cs typeface="Arial Rounded"/>
                <a:sym typeface="Arial Rounded"/>
              </a:rPr>
              <a:t>5. Final Integration</a:t>
            </a:r>
            <a:endParaRPr lang="en-US" b="1" dirty="0">
              <a:latin typeface="Arial Rounded"/>
              <a:ea typeface="Arial Rounded"/>
              <a:cs typeface="Arial Rounded"/>
              <a:sym typeface="Arial Rounded"/>
            </a:endParaRPr>
          </a:p>
          <a:p>
            <a:pPr marL="0" lvl="0" indent="0">
              <a:lnSpc>
                <a:spcPct val="100000"/>
              </a:lnSpc>
              <a:spcBef>
                <a:spcPts val="400"/>
              </a:spcBef>
              <a:buClr>
                <a:schemeClr val="dk1"/>
              </a:buClr>
              <a:buSzPts val="2000"/>
              <a:buNone/>
            </a:pPr>
            <a:r>
              <a:rPr lang="en-US" b="1" dirty="0">
                <a:latin typeface="Arial Rounded"/>
                <a:ea typeface="Arial Rounded"/>
                <a:cs typeface="Arial Rounded"/>
                <a:sym typeface="Arial Rounded"/>
              </a:rPr>
              <a:t>6. Future Enhancements (Post-Selection / App Phase)</a:t>
            </a:r>
            <a:endParaRPr lang="en-US" b="1" dirty="0">
              <a:latin typeface="Arial Rounded"/>
              <a:ea typeface="Arial Rounded"/>
              <a:cs typeface="Arial Rounded"/>
              <a:sym typeface="Arial Rounded"/>
            </a:endParaRPr>
          </a:p>
          <a:p>
            <a:pPr marL="342900" lvl="0" indent="-215900">
              <a:lnSpc>
                <a:spcPct val="100000"/>
              </a:lnSpc>
              <a:spcBef>
                <a:spcPts val="400"/>
              </a:spcBef>
              <a:buClr>
                <a:schemeClr val="dk1"/>
              </a:buClr>
              <a:buSzPts val="2000"/>
              <a:buNone/>
            </a:pPr>
            <a:endParaRPr lang="en-US" b="1" dirty="0">
              <a:latin typeface="Arial Rounded"/>
              <a:ea typeface="Arial Rounded"/>
              <a:cs typeface="Arial Rounded"/>
              <a:sym typeface="Arial Rounded"/>
            </a:endParaRPr>
          </a:p>
          <a:p>
            <a:endParaRPr lang="en-IN" dirty="0"/>
          </a:p>
        </p:txBody>
      </p:sp>
      <p:pic>
        <p:nvPicPr>
          <p:cNvPr id="4" name="Google Shape;125;p18" descr="Screenshot (81)"/>
          <p:cNvPicPr preferRelativeResize="0"/>
          <p:nvPr/>
        </p:nvPicPr>
        <p:blipFill rotWithShape="1">
          <a:blip r:embed="rId1"/>
          <a:srcRect/>
          <a:stretch>
            <a:fillRect/>
          </a:stretch>
        </p:blipFill>
        <p:spPr>
          <a:xfrm>
            <a:off x="4276090" y="4805680"/>
            <a:ext cx="3639820" cy="16871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CASE STUDY/BASE PAPER</a:t>
            </a:r>
            <a:br>
              <a:rPr lang="en-IN" dirty="0">
                <a:solidFill>
                  <a:schemeClr val="accent1"/>
                </a:solidFill>
                <a:latin typeface="Times New Roman" panose="02020603050405020304"/>
                <a:ea typeface="Times New Roman" panose="02020603050405020304"/>
                <a:cs typeface="Times New Roman" panose="02020603050405020304"/>
                <a:sym typeface="Times New Roman" panose="02020603050405020304"/>
              </a:rPr>
            </a:br>
            <a:endParaRPr lang="en-IN" dirty="0"/>
          </a:p>
        </p:txBody>
      </p:sp>
      <p:sp>
        <p:nvSpPr>
          <p:cNvPr id="3" name="Content Placeholder 2"/>
          <p:cNvSpPr>
            <a:spLocks noGrp="1"/>
          </p:cNvSpPr>
          <p:nvPr>
            <p:ph idx="1"/>
          </p:nvPr>
        </p:nvSpPr>
        <p:spPr>
          <a:xfrm>
            <a:off x="838200" y="1252330"/>
            <a:ext cx="10515600" cy="4924633"/>
          </a:xfrm>
        </p:spPr>
        <p:txBody>
          <a:bodyPr>
            <a:normAutofit fontScale="92500" lnSpcReduction="20000"/>
          </a:bodyPr>
          <a:lstStyle/>
          <a:p>
            <a:pPr marL="342900" lvl="0" indent="-342900">
              <a:lnSpc>
                <a:spcPct val="100000"/>
              </a:lnSpc>
              <a:spcBef>
                <a:spcPts val="0"/>
              </a:spcBef>
              <a:buClr>
                <a:schemeClr val="dk1"/>
              </a:buClr>
              <a:buSzPts val="1900"/>
            </a:pPr>
            <a:r>
              <a:rPr lang="en-US" dirty="0">
                <a:latin typeface="Times New Roman" panose="02020603050405020304" pitchFamily="18" charset="0"/>
                <a:cs typeface="Times New Roman" panose="02020603050405020304" pitchFamily="18" charset="0"/>
              </a:rPr>
              <a:t>Abstract— Mobile applications are becoming integral for women and children by complementing their level of safety and security. This paper proposes a novel system called "Rescue Ready," a mobile real-time personal safety application for such users. The system includes several features, such as a “Danger Button” which sends an SMS alert with the user’s live location, alarms the police, and starts buzzing. Rescue-ready urgent alerts the authorities and identifies the users through clear and fast communication protocols. It has been designed with a user-friendly interface, aiming at less than one second response time to allow the app to work in real-time. In this paper, we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system architecture along with the key features and discuss the results from its extensive testing and use of modern techniques for automated Assistance.</a:t>
            </a:r>
            <a:endParaRPr lang="en-US" dirty="0">
              <a:latin typeface="Times New Roman" panose="02020603050405020304" pitchFamily="18" charset="0"/>
              <a:cs typeface="Times New Roman" panose="02020603050405020304" pitchFamily="18" charset="0"/>
            </a:endParaRPr>
          </a:p>
          <a:p>
            <a:pPr marL="342900" lvl="0" indent="-342900">
              <a:lnSpc>
                <a:spcPct val="100000"/>
              </a:lnSpc>
              <a:spcBef>
                <a:spcPts val="380"/>
              </a:spcBef>
              <a:buClr>
                <a:schemeClr val="dk1"/>
              </a:buClr>
              <a:buSzPts val="1900"/>
            </a:pPr>
            <a:r>
              <a:rPr lang="en-US" b="1" dirty="0">
                <a:latin typeface="Times New Roman" panose="02020603050405020304" pitchFamily="18" charset="0"/>
                <a:ea typeface="Arial Black" panose="020B0A04020102020204"/>
                <a:cs typeface="Times New Roman" panose="02020603050405020304" pitchFamily="18" charset="0"/>
                <a:sym typeface="Arial Black" panose="020B0A04020102020204"/>
              </a:rPr>
              <a:t>Index Terms— Personal safety, real-time alert, location </a:t>
            </a:r>
            <a:endParaRPr lang="en-US" b="1" dirty="0">
              <a:latin typeface="Times New Roman" panose="02020603050405020304" pitchFamily="18" charset="0"/>
              <a:ea typeface="Arial Black" panose="020B0A04020102020204"/>
              <a:cs typeface="Times New Roman" panose="02020603050405020304" pitchFamily="18" charset="0"/>
              <a:sym typeface="Arial Black" panose="020B0A04020102020204"/>
            </a:endParaRPr>
          </a:p>
          <a:p>
            <a:pPr marL="342900" lvl="0" indent="-342900">
              <a:lnSpc>
                <a:spcPct val="100000"/>
              </a:lnSpc>
              <a:spcBef>
                <a:spcPts val="380"/>
              </a:spcBef>
              <a:buClr>
                <a:schemeClr val="dk1"/>
              </a:buClr>
              <a:buSzPts val="1900"/>
            </a:pPr>
            <a:r>
              <a:rPr lang="en-US" b="1" dirty="0">
                <a:latin typeface="Times New Roman" panose="02020603050405020304" pitchFamily="18" charset="0"/>
                <a:ea typeface="Arial Black" panose="020B0A04020102020204"/>
                <a:cs typeface="Times New Roman" panose="02020603050405020304" pitchFamily="18" charset="0"/>
                <a:sym typeface="Arial Black" panose="020B0A04020102020204"/>
              </a:rPr>
              <a:t>sharing, emergency app, mobile security, Rescue Ready</a:t>
            </a:r>
            <a:endParaRPr lang="en-US" b="1" dirty="0">
              <a:latin typeface="Times New Roman" panose="02020603050405020304" pitchFamily="18" charset="0"/>
              <a:ea typeface="Arial Black" panose="020B0A04020102020204"/>
              <a:cs typeface="Times New Roman" panose="02020603050405020304" pitchFamily="18" charset="0"/>
              <a:sym typeface="Arial Black" panose="020B0A04020102020204"/>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TARGETED USER</a:t>
            </a:r>
            <a:br>
              <a:rPr lang="en-IN" dirty="0">
                <a:solidFill>
                  <a:schemeClr val="accent1"/>
                </a:solidFill>
                <a:latin typeface="Times New Roman" panose="02020603050405020304"/>
                <a:ea typeface="Times New Roman" panose="02020603050405020304"/>
                <a:cs typeface="Times New Roman" panose="02020603050405020304"/>
                <a:sym typeface="Times New Roman" panose="02020603050405020304"/>
              </a:rPr>
            </a:br>
            <a:endParaRPr lang="en-IN" dirty="0"/>
          </a:p>
        </p:txBody>
      </p:sp>
      <p:sp>
        <p:nvSpPr>
          <p:cNvPr id="3" name="Content Placeholder 2"/>
          <p:cNvSpPr>
            <a:spLocks noGrp="1"/>
          </p:cNvSpPr>
          <p:nvPr>
            <p:ph idx="1"/>
          </p:nvPr>
        </p:nvSpPr>
        <p:spPr/>
        <p:txBody>
          <a:bodyPr/>
          <a:lstStyle/>
          <a:p>
            <a:pPr marL="342900" lvl="0" indent="-342900">
              <a:lnSpc>
                <a:spcPct val="100000"/>
              </a:lnSpc>
              <a:spcBef>
                <a:spcPts val="0"/>
              </a:spcBef>
              <a:buClr>
                <a:schemeClr val="dk1"/>
              </a:buClr>
              <a:buSzPts val="3200"/>
            </a:pPr>
            <a:r>
              <a:rPr lang="en-IN" dirty="0">
                <a:latin typeface="Times New Roman" panose="02020603050405020304" pitchFamily="18" charset="0"/>
                <a:cs typeface="Times New Roman" panose="02020603050405020304" pitchFamily="18" charset="0"/>
              </a:rPr>
              <a:t>General Public</a:t>
            </a:r>
            <a:endParaRPr lang="en-IN"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IN" dirty="0">
                <a:latin typeface="Times New Roman" panose="02020603050405020304" pitchFamily="18" charset="0"/>
                <a:cs typeface="Times New Roman" panose="02020603050405020304" pitchFamily="18" charset="0"/>
              </a:rPr>
              <a:t>Elderly People or Individuals with Medical Conditions</a:t>
            </a:r>
            <a:endParaRPr lang="en-IN"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IN" dirty="0">
                <a:latin typeface="Times New Roman" panose="02020603050405020304" pitchFamily="18" charset="0"/>
                <a:cs typeface="Times New Roman" panose="02020603050405020304" pitchFamily="18" charset="0"/>
              </a:rPr>
              <a:t>College Students &amp; Hostellers</a:t>
            </a:r>
            <a:endParaRPr lang="en-IN"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IN" dirty="0">
                <a:latin typeface="Times New Roman" panose="02020603050405020304" pitchFamily="18" charset="0"/>
                <a:cs typeface="Times New Roman" panose="02020603050405020304" pitchFamily="18" charset="0"/>
              </a:rPr>
              <a:t>Women and Vulnerable Groups</a:t>
            </a:r>
            <a:endParaRPr lang="en-IN"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IN" dirty="0">
                <a:latin typeface="Times New Roman" panose="02020603050405020304" pitchFamily="18" charset="0"/>
                <a:cs typeface="Times New Roman" panose="02020603050405020304" pitchFamily="18" charset="0"/>
              </a:rPr>
              <a:t>Disaster-Prone or Remote Areas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FUTURE SCOPE</a:t>
            </a:r>
            <a:br>
              <a:rPr lang="en-IN" dirty="0">
                <a:solidFill>
                  <a:schemeClr val="accent1"/>
                </a:solidFill>
                <a:latin typeface="Times New Roman" panose="02020603050405020304"/>
                <a:ea typeface="Times New Roman" panose="02020603050405020304"/>
                <a:cs typeface="Times New Roman" panose="02020603050405020304"/>
                <a:sym typeface="Times New Roman" panose="02020603050405020304"/>
              </a:rPr>
            </a:br>
            <a:endParaRPr lang="en-IN" dirty="0"/>
          </a:p>
        </p:txBody>
      </p:sp>
      <p:sp>
        <p:nvSpPr>
          <p:cNvPr id="3" name="Content Placeholder 2"/>
          <p:cNvSpPr>
            <a:spLocks noGrp="1"/>
          </p:cNvSpPr>
          <p:nvPr>
            <p:ph idx="1"/>
          </p:nvPr>
        </p:nvSpPr>
        <p:spPr/>
        <p:txBody>
          <a:bodyPr>
            <a:normAutofit lnSpcReduction="10000"/>
          </a:bodyPr>
          <a:lstStyle/>
          <a:p>
            <a:pPr marL="342900" lvl="0" indent="-342900">
              <a:lnSpc>
                <a:spcPct val="100000"/>
              </a:lnSpc>
              <a:spcBef>
                <a:spcPts val="0"/>
              </a:spcBef>
              <a:buClr>
                <a:schemeClr val="dk1"/>
              </a:buClr>
              <a:buSzPts val="3200"/>
            </a:pPr>
            <a:r>
              <a:rPr lang="en-US" dirty="0">
                <a:latin typeface="Times New Roman" panose="02020603050405020304" pitchFamily="18" charset="0"/>
                <a:cs typeface="Times New Roman" panose="02020603050405020304" pitchFamily="18" charset="0"/>
              </a:rPr>
              <a:t>Mobile app version for wider reach</a:t>
            </a:r>
            <a:endParaRPr lang="en-US" dirty="0">
              <a:latin typeface="Times New Roman" panose="02020603050405020304" pitchFamily="18" charset="0"/>
              <a:cs typeface="Times New Roman" panose="02020603050405020304" pitchFamily="18" charset="0"/>
            </a:endParaRPr>
          </a:p>
          <a:p>
            <a:pPr marL="342900" lvl="0" indent="-139700">
              <a:lnSpc>
                <a:spcPct val="100000"/>
              </a:lnSpc>
              <a:spcBef>
                <a:spcPts val="640"/>
              </a:spcBef>
              <a:buClr>
                <a:schemeClr val="dk1"/>
              </a:buClr>
              <a:buSzPts val="3200"/>
              <a:buNone/>
            </a:pPr>
            <a:endParaRPr lang="en-US"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US" dirty="0">
                <a:latin typeface="Times New Roman" panose="02020603050405020304" pitchFamily="18" charset="0"/>
                <a:cs typeface="Times New Roman" panose="02020603050405020304" pitchFamily="18" charset="0"/>
              </a:rPr>
              <a:t>Real-time map of helpers/responders</a:t>
            </a:r>
            <a:endParaRPr lang="en-US" dirty="0">
              <a:latin typeface="Times New Roman" panose="02020603050405020304" pitchFamily="18" charset="0"/>
              <a:cs typeface="Times New Roman" panose="02020603050405020304" pitchFamily="18" charset="0"/>
            </a:endParaRPr>
          </a:p>
          <a:p>
            <a:pPr marL="342900" lvl="0" indent="-139700">
              <a:lnSpc>
                <a:spcPct val="100000"/>
              </a:lnSpc>
              <a:spcBef>
                <a:spcPts val="640"/>
              </a:spcBef>
              <a:buClr>
                <a:schemeClr val="dk1"/>
              </a:buClr>
              <a:buSzPts val="3200"/>
              <a:buNone/>
            </a:pPr>
            <a:endParaRPr lang="en-US"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US" dirty="0">
                <a:latin typeface="Times New Roman" panose="02020603050405020304" pitchFamily="18" charset="0"/>
                <a:cs typeface="Times New Roman" panose="02020603050405020304" pitchFamily="18" charset="0"/>
              </a:rPr>
              <a:t>Voice-activated emergency triggers</a:t>
            </a:r>
            <a:endParaRPr lang="en-US" dirty="0">
              <a:latin typeface="Times New Roman" panose="02020603050405020304" pitchFamily="18" charset="0"/>
              <a:cs typeface="Times New Roman" panose="02020603050405020304" pitchFamily="18" charset="0"/>
            </a:endParaRPr>
          </a:p>
          <a:p>
            <a:pPr marL="342900" lvl="0" indent="-139700">
              <a:lnSpc>
                <a:spcPct val="100000"/>
              </a:lnSpc>
              <a:spcBef>
                <a:spcPts val="640"/>
              </a:spcBef>
              <a:buClr>
                <a:schemeClr val="dk1"/>
              </a:buClr>
              <a:buSzPts val="3200"/>
              <a:buNone/>
            </a:pPr>
            <a:endParaRPr lang="en-US"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US" dirty="0">
                <a:latin typeface="Times New Roman" panose="02020603050405020304" pitchFamily="18" charset="0"/>
                <a:cs typeface="Times New Roman" panose="02020603050405020304" pitchFamily="18" charset="0"/>
              </a:rPr>
              <a:t>Integration with wearables</a:t>
            </a:r>
            <a:endParaRPr lang="en-US" dirty="0">
              <a:latin typeface="Times New Roman" panose="02020603050405020304" pitchFamily="18" charset="0"/>
              <a:cs typeface="Times New Roman" panose="02020603050405020304" pitchFamily="18" charset="0"/>
            </a:endParaRPr>
          </a:p>
          <a:p>
            <a:pPr marL="342900" lvl="0" indent="-139700">
              <a:lnSpc>
                <a:spcPct val="100000"/>
              </a:lnSpc>
              <a:spcBef>
                <a:spcPts val="640"/>
              </a:spcBef>
              <a:buClr>
                <a:schemeClr val="dk1"/>
              </a:buClr>
              <a:buSzPts val="3200"/>
              <a:buNone/>
            </a:pPr>
            <a:endParaRPr lang="en-US" dirty="0">
              <a:latin typeface="Times New Roman" panose="02020603050405020304" pitchFamily="18" charset="0"/>
              <a:cs typeface="Times New Roman" panose="02020603050405020304" pitchFamily="18" charset="0"/>
            </a:endParaRPr>
          </a:p>
          <a:p>
            <a:pPr marL="342900" lvl="0" indent="-342900">
              <a:lnSpc>
                <a:spcPct val="100000"/>
              </a:lnSpc>
              <a:spcBef>
                <a:spcPts val="640"/>
              </a:spcBef>
              <a:buClr>
                <a:schemeClr val="dk1"/>
              </a:buClr>
              <a:buSzPts val="3200"/>
            </a:pPr>
            <a:r>
              <a:rPr lang="en-US" dirty="0">
                <a:latin typeface="Times New Roman" panose="02020603050405020304" pitchFamily="18" charset="0"/>
                <a:cs typeface="Times New Roman" panose="02020603050405020304" pitchFamily="18" charset="0"/>
              </a:rPr>
              <a:t>Response time tracking and analytics</a:t>
            </a:r>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bg2">
                    <a:lumMod val="60000"/>
                    <a:lumOff val="40000"/>
                  </a:schemeClr>
                </a:solidFill>
                <a:latin typeface="Times New Roman" panose="02020603050405020304" pitchFamily="18" charset="0"/>
                <a:cs typeface="Times New Roman" panose="02020603050405020304" pitchFamily="18" charset="0"/>
              </a:rPr>
              <a:t> </a:t>
            </a:r>
            <a:r>
              <a:rPr lang="en-US" dirty="0">
                <a:solidFill>
                  <a:srgbClr val="CC0000"/>
                </a:solidFill>
                <a:latin typeface="Times New Roman" panose="02020603050405020304" pitchFamily="18" charset="0"/>
                <a:cs typeface="Times New Roman" panose="02020603050405020304" pitchFamily="18" charset="0"/>
              </a:rPr>
              <a:t>MODULES</a:t>
            </a:r>
            <a:br>
              <a:rPr lang="en-US" dirty="0">
                <a:solidFill>
                  <a:schemeClr val="bg2">
                    <a:lumMod val="60000"/>
                    <a:lumOff val="40000"/>
                  </a:schemeClr>
                </a:solidFill>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838200" y="1172817"/>
            <a:ext cx="10515600" cy="5004146"/>
          </a:xfrm>
        </p:spPr>
        <p:txBody>
          <a:bodyPr>
            <a:normAutofit fontScale="62500" lnSpcReduction="20000"/>
          </a:bodyPr>
          <a:lstStyle/>
          <a:p>
            <a:r>
              <a:rPr lang="en-US" b="1" dirty="0">
                <a:latin typeface="Times New Roman" panose="02020603050405020304" pitchFamily="18" charset="0"/>
                <a:cs typeface="Times New Roman" panose="02020603050405020304" pitchFamily="18" charset="0"/>
              </a:rPr>
              <a:t>Module 1: User Registration and Authentication</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Description:</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Handles user onboarding, login, and profile management.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Features:</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Signup/Login using email &amp; password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Role selection (e.g., Emergency Reporter, Responder)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Authentication with Firebase Auth or custom JWT</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Input:</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Name, email, password, role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Output:</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Login confirmation, profile created</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Module 2: Location Tracking and Management</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Description:</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Captures and updates real-time user locations to </a:t>
            </a:r>
            <a:r>
              <a:rPr lang="en-US" dirty="0" err="1">
                <a:latin typeface="Times New Roman" panose="02020603050405020304" pitchFamily="18" charset="0"/>
                <a:cs typeface="Times New Roman" panose="02020603050405020304" pitchFamily="18" charset="0"/>
              </a:rPr>
              <a:t>Firestore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Features:</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Browser geolocation API integration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Location stored in </a:t>
            </a:r>
            <a:r>
              <a:rPr lang="en-US" dirty="0" err="1">
                <a:latin typeface="Times New Roman" panose="02020603050405020304" pitchFamily="18" charset="0"/>
                <a:cs typeface="Times New Roman" panose="02020603050405020304" pitchFamily="18" charset="0"/>
              </a:rPr>
              <a:t>Firestore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Auto-update every X seconds/minutes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Input:</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Device location (</a:t>
            </a:r>
            <a:r>
              <a:rPr lang="en-US" dirty="0" err="1">
                <a:latin typeface="Times New Roman" panose="02020603050405020304" pitchFamily="18" charset="0"/>
                <a:cs typeface="Times New Roman" panose="02020603050405020304" pitchFamily="18" charset="0"/>
              </a:rPr>
              <a:t>lat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lng</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Output:</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Stored user location in data</a:t>
            </a:r>
            <a:r>
              <a:rPr lang="en-US" dirty="0"/>
              <a:t>base</a:t>
            </a:r>
            <a:br>
              <a:rPr lang="en-US" dirty="0"/>
            </a:br>
            <a:endParaRPr lang="en-US" sz="1200" dirty="0"/>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9"/>
          <p:cNvSpPr>
            <a:spLocks noGrp="1"/>
          </p:cNvSpPr>
          <p:nvPr>
            <p:ph idx="1"/>
          </p:nvPr>
        </p:nvSpPr>
        <p:spPr>
          <a:xfrm>
            <a:off x="838200" y="397564"/>
            <a:ext cx="10515600" cy="6072809"/>
          </a:xfrm>
        </p:spPr>
        <p:txBody>
          <a:bodyPr>
            <a:normAutofit fontScale="77500" lnSpcReduction="20000"/>
          </a:bodyPr>
          <a:lstStyle/>
          <a:p>
            <a:r>
              <a:rPr lang="en-US" b="1" dirty="0">
                <a:latin typeface="Calibri" panose="020F0502020204030204" pitchFamily="34" charset="0"/>
                <a:cs typeface="Arial" panose="020B0604020202020204" pitchFamily="34" charset="0"/>
              </a:rPr>
              <a:t>🔹 Module 3: Emergency Trigger System (Emergency Button)</a:t>
            </a:r>
            <a:br>
              <a:rPr lang="en-US" b="1"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Description:</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Allows users to raise an emergency alert.</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Features:</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Emergency button on homepage</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On click → captures user’s location</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Triggers alert system with coordinates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Input: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Button click + current location</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Output: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Alert broadcast initiation</a:t>
            </a:r>
            <a:br>
              <a:rPr lang="en-US" dirty="0">
                <a:latin typeface="Calibri" panose="020F0502020204030204" pitchFamily="34" charset="0"/>
                <a:cs typeface="Arial" panose="020B0604020202020204" pitchFamily="34" charset="0"/>
              </a:rPr>
            </a:b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 Module 4: Nearby Users Detection Module</a:t>
            </a:r>
            <a:br>
              <a:rPr lang="en-US" b="1"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Description:</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Detects nearby registered users within a given radius.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Features:</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Haversine formula for geo-distance</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Radius expansion logic if no helpers found</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Dynamic response filtering</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Input: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Emergency location, all user locations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Output: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List of nearby users (email, distance)</a:t>
            </a:r>
            <a:br>
              <a:rPr lang="en-US" dirty="0">
                <a:latin typeface="Calibri" panose="020F0502020204030204" pitchFamily="34" charset="0"/>
                <a:cs typeface="Arial" panose="020B0604020202020204" pitchFamily="34" charset="0"/>
              </a:rPr>
            </a:br>
            <a:br>
              <a:rPr lang="en-US" dirty="0">
                <a:latin typeface="Arial" panose="020B0604020202020204" pitchFamily="34" charset="0"/>
                <a:cs typeface="Arial" panose="020B0604020202020204" pitchFamily="34" charset="0"/>
              </a:rPr>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337930"/>
            <a:ext cx="10515600" cy="5839033"/>
          </a:xfrm>
        </p:spPr>
        <p:txBody>
          <a:bodyPr>
            <a:normAutofit fontScale="77500" lnSpcReduction="20000"/>
          </a:bodyPr>
          <a:lstStyle/>
          <a:p>
            <a:r>
              <a:rPr lang="en-US" b="1" dirty="0">
                <a:latin typeface="Calibri" panose="020F0502020204030204" pitchFamily="34" charset="0"/>
                <a:cs typeface="Arial" panose="020B0604020202020204" pitchFamily="34" charset="0"/>
              </a:rPr>
              <a:t>🔹 Module 5: Email Alert Notification System</a:t>
            </a:r>
            <a:br>
              <a:rPr lang="en-US" b="1"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Description:</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Sends email alerts to nearby users.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Features:</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Integration with </a:t>
            </a:r>
            <a:r>
              <a:rPr lang="en-US" dirty="0" err="1">
                <a:latin typeface="Calibri" panose="020F0502020204030204" pitchFamily="34" charset="0"/>
                <a:cs typeface="Arial" panose="020B0604020202020204" pitchFamily="34" charset="0"/>
              </a:rPr>
              <a:t>Nodemailer</a:t>
            </a:r>
            <a:r>
              <a:rPr lang="en-US" dirty="0">
                <a:latin typeface="Calibri" panose="020F0502020204030204" pitchFamily="34" charset="0"/>
                <a:cs typeface="Arial" panose="020B0604020202020204" pitchFamily="34" charset="0"/>
              </a:rPr>
              <a:t> or SendGrid</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Sends emergency location + response link</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Allows “Accept” or “Ignore” response</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Input: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Nearby user emails, location</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Output: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Email alert sent with location and call to action</a:t>
            </a:r>
            <a:br>
              <a:rPr lang="en-US" dirty="0">
                <a:latin typeface="Calibri" panose="020F0502020204030204" pitchFamily="34" charset="0"/>
              </a:rPr>
            </a:b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 Module 6: Helper Response Handling</a:t>
            </a:r>
            <a:br>
              <a:rPr lang="en-US" b="1"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Description:</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Allows nearby users to respond to emergency alerts.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Features:</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Clickable “I Can Help” link in email</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Updates </a:t>
            </a:r>
            <a:r>
              <a:rPr lang="en-US" dirty="0" err="1">
                <a:latin typeface="Calibri" panose="020F0502020204030204" pitchFamily="34" charset="0"/>
                <a:cs typeface="Arial" panose="020B0604020202020204" pitchFamily="34" charset="0"/>
              </a:rPr>
              <a:t>Firestore</a:t>
            </a:r>
            <a:r>
              <a:rPr lang="en-US" dirty="0">
                <a:latin typeface="Calibri" panose="020F0502020204030204" pitchFamily="34" charset="0"/>
                <a:cs typeface="Arial" panose="020B0604020202020204" pitchFamily="34" charset="0"/>
              </a:rPr>
              <a:t> with responder status</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Sends confirmation to requester</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Input: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Response click from email</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Output: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Updated </a:t>
            </a:r>
            <a:r>
              <a:rPr lang="en-US" dirty="0" err="1">
                <a:latin typeface="Calibri" panose="020F0502020204030204" pitchFamily="34" charset="0"/>
                <a:cs typeface="Arial" panose="020B0604020202020204" pitchFamily="34" charset="0"/>
              </a:rPr>
              <a:t>Firestore</a:t>
            </a:r>
            <a:r>
              <a:rPr lang="en-US" dirty="0">
                <a:latin typeface="Calibri" panose="020F0502020204030204" pitchFamily="34" charset="0"/>
                <a:cs typeface="Arial" panose="020B0604020202020204" pitchFamily="34" charset="0"/>
              </a:rPr>
              <a:t> status, confirmation sent</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7870"/>
            <a:ext cx="10515600" cy="5829093"/>
          </a:xfrm>
        </p:spPr>
        <p:txBody>
          <a:bodyPr>
            <a:normAutofit fontScale="77500" lnSpcReduction="20000"/>
          </a:bodyPr>
          <a:lstStyle/>
          <a:p>
            <a:r>
              <a:rPr lang="en-US" b="1" dirty="0">
                <a:latin typeface="Calibri" panose="020F0502020204030204" pitchFamily="34" charset="0"/>
                <a:cs typeface="Arial" panose="020B0604020202020204" pitchFamily="34" charset="0"/>
              </a:rPr>
              <a:t>Module 7: Emergency History Module</a:t>
            </a:r>
            <a:br>
              <a:rPr lang="en-US" b="1"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Description:</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Displays past emergency requests and their outcomes.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Features:</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Fetches data from </a:t>
            </a:r>
            <a:r>
              <a:rPr lang="en-US" dirty="0" err="1">
                <a:latin typeface="Calibri" panose="020F0502020204030204" pitchFamily="34" charset="0"/>
                <a:cs typeface="Arial" panose="020B0604020202020204" pitchFamily="34" charset="0"/>
              </a:rPr>
              <a:t>Firestore</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Shows timestamps, location, responder status</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Admin panel view for analysis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Input: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Request from frontend dashboard</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Output: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Table/list of emergency logs</a:t>
            </a:r>
            <a:br>
              <a:rPr lang="en-US" dirty="0">
                <a:latin typeface="Calibri" panose="020F0502020204030204" pitchFamily="34" charset="0"/>
                <a:cs typeface="Arial" panose="020B0604020202020204" pitchFamily="34" charset="0"/>
              </a:rPr>
            </a:b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 Module 8: Admin Monitoring Dashboard (Optional/Advanced)</a:t>
            </a:r>
            <a:br>
              <a:rPr lang="en-US" b="1"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Description:</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Visual admin panel to monitor system usage and emergencies.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Features:</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Emergency map with pins</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User statistics</a:t>
            </a:r>
            <a:br>
              <a:rPr lang="en-US"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Responder logs</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Input:</a:t>
            </a:r>
            <a:br>
              <a:rPr lang="en-US" b="1" dirty="0">
                <a:latin typeface="Calibri" panose="020F0502020204030204" pitchFamily="34" charset="0"/>
                <a:cs typeface="Arial" panose="020B0604020202020204" pitchFamily="34" charset="0"/>
              </a:rPr>
            </a:br>
            <a:r>
              <a:rPr lang="en-US" dirty="0" err="1">
                <a:latin typeface="Calibri" panose="020F0502020204030204" pitchFamily="34" charset="0"/>
                <a:cs typeface="Arial" panose="020B0604020202020204" pitchFamily="34" charset="0"/>
              </a:rPr>
              <a:t>Firestore</a:t>
            </a:r>
            <a:r>
              <a:rPr lang="en-US" dirty="0">
                <a:latin typeface="Calibri" panose="020F0502020204030204" pitchFamily="34" charset="0"/>
                <a:cs typeface="Arial" panose="020B0604020202020204" pitchFamily="34" charset="0"/>
              </a:rPr>
              <a:t> data</a:t>
            </a:r>
            <a:br>
              <a:rPr lang="en-US" dirty="0">
                <a:latin typeface="Calibri" panose="020F0502020204030204" pitchFamily="34" charset="0"/>
                <a:cs typeface="Arial" panose="020B0604020202020204" pitchFamily="34" charset="0"/>
              </a:rPr>
            </a:br>
            <a:r>
              <a:rPr lang="en-US" b="1" dirty="0">
                <a:latin typeface="Calibri" panose="020F0502020204030204" pitchFamily="34" charset="0"/>
                <a:cs typeface="Arial" panose="020B0604020202020204" pitchFamily="34" charset="0"/>
              </a:rPr>
              <a:t>Output:</a:t>
            </a:r>
            <a:br>
              <a:rPr lang="en-US" b="1" dirty="0">
                <a:latin typeface="Calibri" panose="020F0502020204030204" pitchFamily="34" charset="0"/>
                <a:cs typeface="Arial" panose="020B0604020202020204" pitchFamily="34" charset="0"/>
              </a:rPr>
            </a:br>
            <a:r>
              <a:rPr lang="en-US" dirty="0">
                <a:latin typeface="Calibri" panose="020F0502020204030204" pitchFamily="34" charset="0"/>
                <a:cs typeface="Arial" panose="020B0604020202020204" pitchFamily="34" charset="0"/>
              </a:rPr>
              <a:t>UI-based dashboard (charts, tables, maps)</a:t>
            </a:r>
            <a:br>
              <a:rPr lang="en-US" dirty="0">
                <a:latin typeface="Calibri" panose="020F0502020204030204" pitchFamily="34" charset="0"/>
                <a:cs typeface="Arial" panose="020B0604020202020204" pitchFamily="34" charset="0"/>
              </a:rPr>
            </a:br>
            <a:endParaRPr lang="en-US" dirty="0">
              <a:latin typeface="Calibri" panose="020F0502020204030204" pitchFamily="34" charset="0"/>
              <a:cs typeface="Arial" panose="020B0604020202020204" pitchFamily="34" charset="0"/>
            </a:endParaRP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CC0000"/>
                </a:solidFill>
                <a:latin typeface="Times New Roman" panose="02020603050405020304" pitchFamily="18" charset="0"/>
                <a:cs typeface="Times New Roman" panose="02020603050405020304" pitchFamily="18" charset="0"/>
              </a:rPr>
              <a:t>ARCHITECTURE</a:t>
            </a:r>
            <a:br>
              <a:rPr lang="en-US" dirty="0">
                <a:solidFill>
                  <a:schemeClr val="bg2">
                    <a:lumMod val="60000"/>
                    <a:lumOff val="40000"/>
                  </a:schemeClr>
                </a:solidFill>
                <a:latin typeface="Times New Roman" panose="02020603050405020304" pitchFamily="18" charset="0"/>
                <a:cs typeface="Times New Roman" panose="02020603050405020304" pitchFamily="18" charset="0"/>
              </a:rPr>
            </a:br>
            <a:endParaRPr lang="en-IN" dirty="0"/>
          </a:p>
        </p:txBody>
      </p:sp>
      <p:pic>
        <p:nvPicPr>
          <p:cNvPr id="4" name="Content Placeholder 3"/>
          <p:cNvPicPr>
            <a:picLocks noGrp="1" noChangeAspect="1"/>
          </p:cNvPicPr>
          <p:nvPr>
            <p:ph idx="1"/>
          </p:nvPr>
        </p:nvPicPr>
        <p:blipFill>
          <a:blip r:embed="rId1"/>
          <a:stretch>
            <a:fillRect/>
          </a:stretch>
        </p:blipFill>
        <p:spPr>
          <a:xfrm>
            <a:off x="3747052" y="1461846"/>
            <a:ext cx="4999383" cy="471511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r>
              <a:rPr lang="en-US" dirty="0">
                <a:solidFill>
                  <a:srgbClr val="CC0000"/>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LITERATURE SURVEY</a:t>
            </a:r>
            <a:br>
              <a:rPr 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838200" y="1272209"/>
            <a:ext cx="10515600" cy="5220666"/>
          </a:xfrm>
        </p:spPr>
        <p:txBody>
          <a:bodyPr>
            <a:noAutofit/>
          </a:bodyPr>
          <a:lstStyle/>
          <a:p>
            <a:r>
              <a:rPr lang="en-US" altLang="en-US" sz="1800" b="1" dirty="0"/>
              <a:t>Location- and Crowd-Sourced Alert Methods:</a:t>
            </a:r>
            <a:br>
              <a:rPr lang="en-US" altLang="en-US" sz="1800" dirty="0"/>
            </a:br>
            <a:r>
              <a:rPr lang="en-US" altLang="en-US" sz="1800" dirty="0"/>
              <a:t>A large body of work shows that mobile crowdsensing and volunteer first-responder (VFR) models can shorten time-to-help by leveraging nearby users’ smartphones for incident awareness and rapid dispatch. A systematic review of disaster-management crowdsensing outlines how phone sensors, user reports, and lightweight cloud backends create scalable, community-driven safety networks with real-time updates and geo-tagged events [1]. At the systems level, information crowdsourcing frameworks formalize workflows where first responders, citizens, and devices collaboratively explore and report evolving emergencies, emphasizing data quality and timely diffusion to affected users [2]. Clinically focused evaluations of smartphone-based VFR dispatch demonstrate that automated ETA-aware algorithms (using incident and responder locations plus transport modes) can improve assignment quality and arrival likelihood in medical emergencies [3], while field deployments show that community first-responder apps run 24/7 alongside EMS and can shorten time-to-CPR in out-of-hospital cardiac arrest scenarios [4]. Together, these studies motivate Rescue Ready’s radius-based nearby-helper alerts, volunteer acceptance flows, and escalation (expanding the radius when no helper accepts promptly).</a:t>
            </a:r>
            <a:endParaRPr lang="en-US" altLang="en-US" sz="1800" dirty="0"/>
          </a:p>
          <a:p>
            <a:r>
              <a:rPr lang="en-US" altLang="en-US" sz="1800" b="1" dirty="0"/>
              <a:t>Geo-targeting &amp; Geofencing for Notifications:</a:t>
            </a:r>
            <a:br>
              <a:rPr lang="en-US" altLang="en-US" sz="1800" dirty="0"/>
            </a:br>
            <a:r>
              <a:rPr lang="en-US" altLang="en-US" sz="1800" dirty="0"/>
              <a:t>For precise outreach, geo-fenced alerting remains central. Recent work on cell broadcast (CBS) proposes a Minimum-Area-Quadrilateral (MAQ) geofencing algorithm that simplifies irregular polygons to reduce broadcast payload and improve location-based delivery efficiency—useful when covering complex neighborhood shapes during incidents [5]. Beyond public warnings, </a:t>
            </a:r>
            <a:br>
              <a:rPr lang="en-US" altLang="en-US" sz="1800" dirty="0"/>
            </a:br>
            <a:br>
              <a:rPr lang="en-US" altLang="en-US" sz="1800" dirty="0"/>
            </a:br>
            <a:endParaRPr lang="en-IN"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322"/>
            <a:ext cx="10515600" cy="6092687"/>
          </a:xfrm>
        </p:spPr>
        <p:txBody>
          <a:bodyPr>
            <a:normAutofit fontScale="70000" lnSpcReduction="20000"/>
          </a:bodyPr>
          <a:lstStyle/>
          <a:p>
            <a:r>
              <a:rPr lang="en-US" altLang="en-US" dirty="0">
                <a:sym typeface="+mn-ea"/>
              </a:rPr>
              <a:t>Geofencing is also applied to traffic safety, where constrained zones improve interactions between drivers and emergency vehicles and reduce collision risk—evidence that careful geo-target design can change behavior under stress [6]. Complementary studies on mobile guidance during wildfires show how app-based, real-time, geo-targeted information helps people choose </a:t>
            </a:r>
            <a:br>
              <a:rPr lang="en-US" altLang="en-US" dirty="0">
                <a:sym typeface="+mn-ea"/>
              </a:rPr>
            </a:br>
            <a:r>
              <a:rPr lang="en-US" altLang="en-US" dirty="0">
                <a:sym typeface="+mn-ea"/>
              </a:rPr>
              <a:t>safer routes and actions during dynamic hazards, underscoring the value of granular, location-aware messaging in life-critical contexts [7]. These insights inform Rescue Ready’s configurable radii, dynamic geofences, and context-aware broadcast scopes.</a:t>
            </a:r>
            <a:br>
              <a:rPr lang="en-US" altLang="en-US" dirty="0">
                <a:sym typeface="+mn-ea"/>
              </a:rPr>
            </a:br>
            <a:br>
              <a:rPr lang="en-US" altLang="en-US" dirty="0">
                <a:sym typeface="+mn-ea"/>
              </a:rPr>
            </a:br>
            <a:r>
              <a:rPr lang="en-US" altLang="en-US" b="1" dirty="0">
                <a:sym typeface="+mn-ea"/>
              </a:rPr>
              <a:t>IoT/Cloud Backends &amp; Real-time Architectures:</a:t>
            </a:r>
            <a:br>
              <a:rPr lang="en-US" altLang="en-US" dirty="0">
                <a:sym typeface="+mn-ea"/>
              </a:rPr>
            </a:br>
            <a:r>
              <a:rPr lang="en-US" altLang="en-US" dirty="0">
                <a:sym typeface="+mn-ea"/>
              </a:rPr>
              <a:t>Modern emergency systems pair IoT sensing with cloud services for sub-second ingestion and notification. An IoT-based Smart Emergency Response System (SERS) integrates multi-domain sensors (vehicle, home, health) with cloud pipelines and reports ~3 </a:t>
            </a:r>
            <a:r>
              <a:rPr lang="en-US" altLang="en-US" dirty="0" err="1">
                <a:sym typeface="+mn-ea"/>
              </a:rPr>
              <a:t>ms</a:t>
            </a:r>
            <a:r>
              <a:rPr lang="en-US" altLang="en-US" dirty="0">
                <a:sym typeface="+mn-ea"/>
              </a:rPr>
              <a:t> server response and &gt;99% accuracy, highlighting that cloud-native paths can meet stringent latency targets for alerts [8]. On the app side, socket-based and PWA architectures (e.g., Socket.IO/WebRTC or React PWAs) demonstrate one-tap SOS flows with live map updates, stable connectivity, and offline-tolerant frontends—patterns directly reusable in Rescue Ready’s browser-based UX [9]–[11]. Engineering case studies of alerts + live tracking + monitoring reaffirm the practicality of combining push/email/SMS, real-time location writes, and dashboard analytics in one mobile stack [12]. These findings support Rescue Ready’s use of web-friendly stacks (HTTP + WebSocket), real-time DBs, and map-centric UIs.</a:t>
            </a:r>
            <a:br>
              <a:rPr lang="en-US" altLang="en-US" dirty="0">
                <a:sym typeface="+mn-ea"/>
              </a:rPr>
            </a:br>
            <a:br>
              <a:rPr lang="en-US" altLang="en-US" dirty="0">
                <a:sym typeface="+mn-ea"/>
              </a:rPr>
            </a:br>
            <a:r>
              <a:rPr lang="en-US" altLang="en-US" b="1" dirty="0">
                <a:sym typeface="+mn-ea"/>
              </a:rPr>
              <a:t>Positioning Accuracy &amp; Dispatch Logistics:</a:t>
            </a:r>
            <a:br>
              <a:rPr lang="en-US" altLang="en-US" b="1" dirty="0">
                <a:sym typeface="+mn-ea"/>
              </a:rPr>
            </a:br>
            <a:r>
              <a:rPr lang="en-US" altLang="en-US" dirty="0">
                <a:sym typeface="+mn-ea"/>
              </a:rPr>
              <a:t>Accurate, quick location fixes are critical. A recent study on 5G-assisted GPS for emergency calls compares Mobile-Station-Based vs. Assisted modes and finds lower response time for MS-based positioning, while 5G reduces assistance data acquisition time to ~1.4 s, improving fix latency without degrading accuracy [13]. In parallel, ambulance dispatch research emphasizes GPS/GSM</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6957"/>
            <a:ext cx="10515600" cy="5680006"/>
          </a:xfrm>
        </p:spPr>
        <p:txBody>
          <a:bodyPr>
            <a:normAutofit/>
          </a:bodyPr>
          <a:lstStyle/>
          <a:p>
            <a:r>
              <a:rPr lang="en-US" altLang="en-US" sz="2000" dirty="0">
                <a:sym typeface="+mn-ea"/>
              </a:rPr>
              <a:t>telemetry and route optimization to reduce scene arrival time and coordinate stakeholders (hospital, ambulance, family) [14]. These insights justify Rescue Ready’s emphasis on fast fix acquisition (fallbacks, retries), ETA-aware helper selection, and handoff to EMS when appropriate.</a:t>
            </a:r>
            <a:br>
              <a:rPr lang="en-US" altLang="en-US" sz="2000" dirty="0">
                <a:sym typeface="+mn-ea"/>
              </a:rPr>
            </a:br>
            <a:br>
              <a:rPr lang="en-US" altLang="en-US" sz="2000" b="1" dirty="0">
                <a:sym typeface="+mn-ea"/>
              </a:rPr>
            </a:br>
            <a:r>
              <a:rPr lang="en-US" altLang="en-US" sz="2000" b="1" dirty="0">
                <a:sym typeface="+mn-ea"/>
              </a:rPr>
              <a:t>Design &amp; Usability Considerations:</a:t>
            </a:r>
            <a:br>
              <a:rPr lang="en-US" altLang="en-US" sz="2000" b="1" dirty="0">
                <a:sym typeface="+mn-ea"/>
              </a:rPr>
            </a:br>
            <a:r>
              <a:rPr lang="en-US" altLang="en-US" sz="2000" dirty="0">
                <a:sym typeface="+mn-ea"/>
              </a:rPr>
              <a:t>Prototype and case-study apps consistently converge on single-tap SOS interactions, minimal cognitive load, and clear status feedback to users and responders [9], [11], [12]. Studies also highlight reliability under poor connectivity and transparent privacy handling as adoption drivers, both relevant to Rescue Ready’s token-secured APIs, opt-in location sharing, and role-based access.</a:t>
            </a:r>
            <a:endParaRPr lang="en-I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CC0000"/>
                </a:solidFill>
              </a:rPr>
              <a:t>OUTPUT</a:t>
            </a:r>
            <a:endParaRPr lang="en-IN" dirty="0">
              <a:solidFill>
                <a:srgbClr val="CC0000"/>
              </a:solidFill>
            </a:endParaRPr>
          </a:p>
        </p:txBody>
      </p:sp>
      <p:pic>
        <p:nvPicPr>
          <p:cNvPr id="4" name="Content Placeholder 3"/>
          <p:cNvPicPr>
            <a:picLocks noGrp="1" noChangeAspect="1"/>
          </p:cNvPicPr>
          <p:nvPr>
            <p:ph idx="1"/>
          </p:nvPr>
        </p:nvPicPr>
        <p:blipFill>
          <a:blip r:embed="rId1"/>
          <a:stretch>
            <a:fillRect/>
          </a:stretch>
        </p:blipFill>
        <p:spPr>
          <a:xfrm>
            <a:off x="1890369" y="1825625"/>
            <a:ext cx="8411262" cy="43513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523313" y="1169643"/>
            <a:ext cx="8807443" cy="43513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3955415" y="1825625"/>
            <a:ext cx="4279900" cy="4351655"/>
          </a:xfrm>
          <a:prstGeom prst="rect">
            <a:avLst/>
          </a:prstGeom>
        </p:spPr>
      </p:pic>
      <p:sp>
        <p:nvSpPr>
          <p:cNvPr id="5" name="TextBox 4"/>
          <p:cNvSpPr txBox="1"/>
          <p:nvPr/>
        </p:nvSpPr>
        <p:spPr>
          <a:xfrm>
            <a:off x="4645175" y="228601"/>
            <a:ext cx="2328714" cy="369332"/>
          </a:xfrm>
          <a:prstGeom prst="rect">
            <a:avLst/>
          </a:prstGeom>
          <a:noFill/>
        </p:spPr>
        <p:txBody>
          <a:bodyPr wrap="none" rtlCol="0">
            <a:spAutoFit/>
          </a:bodyPr>
          <a:lstStyle/>
          <a:p>
            <a:pPr algn="ctr"/>
            <a:r>
              <a:rPr lang="en-US" b="1" dirty="0">
                <a:solidFill>
                  <a:srgbClr val="CC0000"/>
                </a:solidFill>
              </a:rPr>
              <a:t>USER NOTIFICATION</a:t>
            </a:r>
            <a:endParaRPr lang="en-IN" b="1" dirty="0">
              <a:solidFill>
                <a:srgbClr val="CC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2227580" y="1825625"/>
            <a:ext cx="7735570" cy="43516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CC0000"/>
                </a:solidFill>
                <a:latin typeface="Times New Roman" panose="02020603050405020304" pitchFamily="18" charset="0"/>
                <a:cs typeface="Times New Roman" panose="02020603050405020304" pitchFamily="18" charset="0"/>
              </a:rPr>
              <a:t>REFERENCES</a:t>
            </a:r>
            <a:br>
              <a:rPr lang="en-US" dirty="0">
                <a:solidFill>
                  <a:srgbClr val="0070C0"/>
                </a:solidFill>
              </a:rPr>
            </a:br>
            <a:endParaRPr lang="en-IN" dirty="0"/>
          </a:p>
        </p:txBody>
      </p:sp>
      <p:sp>
        <p:nvSpPr>
          <p:cNvPr id="3" name="Content Placeholder 2"/>
          <p:cNvSpPr>
            <a:spLocks noGrp="1"/>
          </p:cNvSpPr>
          <p:nvPr>
            <p:ph idx="1"/>
          </p:nvPr>
        </p:nvSpPr>
        <p:spPr>
          <a:xfrm>
            <a:off x="838200" y="1182757"/>
            <a:ext cx="10515600" cy="4994206"/>
          </a:xfrm>
        </p:spPr>
        <p:txBody>
          <a:bodyPr>
            <a:normAutofit fontScale="40000" lnSpcReduction="20000"/>
          </a:bodyPr>
          <a:lstStyle/>
          <a:p>
            <a:r>
              <a:rPr lang="en-IN" sz="3000" b="1" dirty="0"/>
              <a:t>[1] A. Faiz, S. Kumar, and P. Sharma, “Smart Vehicle Accident Detection and Alarming System Using a Smartphone,” IEEE Transactions on Intelligent Transportation Systems, vol. 16, no. 3, pp. 1212–1220, 2015.</a:t>
            </a:r>
            <a:endParaRPr lang="en-IN" sz="3000" b="1" dirty="0"/>
          </a:p>
          <a:p>
            <a:r>
              <a:rPr lang="en-IN" sz="3000" b="1" dirty="0"/>
              <a:t> </a:t>
            </a:r>
            <a:endParaRPr lang="en-IN" sz="3000" b="1" dirty="0"/>
          </a:p>
          <a:p>
            <a:r>
              <a:rPr lang="en-IN" sz="3000" b="1" dirty="0"/>
              <a:t>[2] N. </a:t>
            </a:r>
            <a:r>
              <a:rPr lang="en-IN" sz="3000" b="1" dirty="0" err="1"/>
              <a:t>Kattukkaran</a:t>
            </a:r>
            <a:r>
              <a:rPr lang="en-IN" sz="3000" b="1" dirty="0"/>
              <a:t>, V. Rajan, and A. Shaji, “Intelligent Accident Detection and Alert System for Emergency Medical Assistance,” IEEE International Conference on Communication and Signal Processing (ICCSP), pp. 1238–1242, 2017.</a:t>
            </a:r>
            <a:endParaRPr lang="en-IN" sz="3000" b="1" dirty="0"/>
          </a:p>
          <a:p>
            <a:r>
              <a:rPr lang="en-IN" sz="3000" b="1" dirty="0"/>
              <a:t> </a:t>
            </a:r>
            <a:endParaRPr lang="en-IN" sz="3000" b="1" dirty="0"/>
          </a:p>
          <a:p>
            <a:r>
              <a:rPr lang="en-IN" sz="3000" b="1" dirty="0"/>
              <a:t>[3] C. K. Gomathy and N. S. Reddy, “Accident Detection and Smart Rescue System,” IEEE 7th International Conference on Advanced Computing (</a:t>
            </a:r>
            <a:r>
              <a:rPr lang="en-IN" sz="3000" b="1" dirty="0" err="1"/>
              <a:t>ICoAC</a:t>
            </a:r>
            <a:r>
              <a:rPr lang="en-IN" sz="3000" b="1" dirty="0"/>
              <a:t>), pp. 76–82, 2021.</a:t>
            </a:r>
            <a:endParaRPr lang="en-IN" sz="3000" b="1" dirty="0"/>
          </a:p>
          <a:p>
            <a:r>
              <a:rPr lang="en-IN" sz="3000" b="1" dirty="0"/>
              <a:t> </a:t>
            </a:r>
            <a:endParaRPr lang="en-IN" sz="3000" b="1" dirty="0"/>
          </a:p>
          <a:p>
            <a:r>
              <a:rPr lang="en-IN" sz="3000" b="1" dirty="0"/>
              <a:t>[4] G. S. Rathod, M. K. Tiwari, and S. Mishra, “Intelligent Accident Detection and Alerting System Based on Machine Learning over IoT,” IEEE Access, vol. 10, pp. 21212–21224, 2022.</a:t>
            </a:r>
            <a:endParaRPr lang="en-IN" sz="3000" b="1" dirty="0"/>
          </a:p>
          <a:p>
            <a:r>
              <a:rPr lang="en-IN" sz="3000" b="1" dirty="0"/>
              <a:t> </a:t>
            </a:r>
            <a:endParaRPr lang="en-IN" sz="3000" b="1" dirty="0"/>
          </a:p>
          <a:p>
            <a:r>
              <a:rPr lang="en-IN" sz="3000" b="1" dirty="0"/>
              <a:t>[5] P. </a:t>
            </a:r>
            <a:r>
              <a:rPr lang="en-IN" sz="3000" b="1" dirty="0" err="1"/>
              <a:t>Josephinshermila</a:t>
            </a:r>
            <a:r>
              <a:rPr lang="en-IN" sz="3000" b="1" dirty="0"/>
              <a:t> and R. Ravi, “Accident Detection Using Automotive Smart Black Box Based Monitoring System,” Elsevier Procedia Computer Science, vol. 197, pp. 254–262, 2023.</a:t>
            </a:r>
            <a:endParaRPr lang="en-IN" sz="3000" b="1" dirty="0"/>
          </a:p>
          <a:p>
            <a:r>
              <a:rPr lang="en-IN" sz="3000" b="1" dirty="0"/>
              <a:t> </a:t>
            </a:r>
            <a:endParaRPr lang="en-IN" sz="3000" b="1" dirty="0"/>
          </a:p>
          <a:p>
            <a:r>
              <a:rPr lang="en-IN" sz="3000" b="1" dirty="0"/>
              <a:t>[6] S. Sharma and P. Gupta, “IoT-Based Smart Health Monitoring and Emergency Alert System,” IEEE Internet of Things Journal, vol. 7, no. 8, pp. 7440–7448, 2020.</a:t>
            </a:r>
            <a:endParaRPr lang="en-IN" sz="3000" b="1" dirty="0"/>
          </a:p>
          <a:p>
            <a:r>
              <a:rPr lang="en-IN" sz="3000" b="1" dirty="0"/>
              <a:t> </a:t>
            </a:r>
            <a:endParaRPr lang="en-IN" sz="3000" b="1" dirty="0"/>
          </a:p>
          <a:p>
            <a:r>
              <a:rPr lang="en-IN" sz="3000" b="1" dirty="0"/>
              <a:t>[7] M. S. Islam, T. Rahman, and K. Hasan, “Real-Time Accident Detection and Notification System Using IoT,” IEEE Region 10 Conference (TENCON), pp. 1803–1808, 2019.</a:t>
            </a:r>
            <a:endParaRPr lang="en-IN" sz="3000" b="1" dirty="0"/>
          </a:p>
          <a:p>
            <a:r>
              <a:rPr lang="en-IN" sz="3000" b="1" dirty="0"/>
              <a:t> </a:t>
            </a:r>
            <a:endParaRPr lang="en-IN" sz="3000" b="1" dirty="0"/>
          </a:p>
          <a:p>
            <a:r>
              <a:rPr lang="en-IN" sz="3000" b="1" dirty="0"/>
              <a:t>[8] R. Dubey, P. Singh, and A. Jain, “Cloud-Based Emergency Management System Using GPS and IoT,” IEEE International Conference on Cloud Computing in Emerging Markets (CCEM), pp. 52–58, 2020.</a:t>
            </a:r>
            <a:endParaRPr lang="en-IN" sz="3000" b="1" dirty="0"/>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838200" y="387350"/>
            <a:ext cx="10515600" cy="5789613"/>
          </a:xfrm>
        </p:spPr>
        <p:txBody>
          <a:bodyPr>
            <a:normAutofit fontScale="40000" lnSpcReduction="20000"/>
          </a:bodyPr>
          <a:lstStyle/>
          <a:p>
            <a:r>
              <a:rPr lang="en-IN" b="1" dirty="0">
                <a:latin typeface="Times New Roman" panose="02020603050405020304" pitchFamily="18" charset="0"/>
                <a:cs typeface="Times New Roman" panose="02020603050405020304" pitchFamily="18" charset="0"/>
              </a:rPr>
              <a:t>[9] A. Patel, R. Desai, and V. Gupta, “Emergency Response Optimization Using Cloud and Mobile Technologies,” IEEE Smart Cities Conference (ISC2), pp. 230–236, 2021.</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[10] S. Thomas, A. Mathew, and J. Joseph, “Smart Rescue: Real-Time Accident Detection and Response Using IoT,” IEEE 4th International Conference on Computing Methodologies and Communication (ICCMC), pp. 890–897, 2020.</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[11] A. Singh and D. Kumar, “Location-Based Alert and Tracking System Using Firebase and Android,” IEEE International Conference on Information Technology (</a:t>
            </a:r>
            <a:r>
              <a:rPr lang="en-IN" b="1" dirty="0" err="1">
                <a:latin typeface="Times New Roman" panose="02020603050405020304" pitchFamily="18" charset="0"/>
                <a:cs typeface="Times New Roman" panose="02020603050405020304" pitchFamily="18" charset="0"/>
              </a:rPr>
              <a:t>InCITe</a:t>
            </a:r>
            <a:r>
              <a:rPr lang="en-IN" b="1" dirty="0">
                <a:latin typeface="Times New Roman" panose="02020603050405020304" pitchFamily="18" charset="0"/>
                <a:cs typeface="Times New Roman" panose="02020603050405020304" pitchFamily="18" charset="0"/>
              </a:rPr>
              <a:t>), pp. 413–418, 2018.</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[12] M. Gupta and T. Banerjee, “Emergency Medical Response Using IoT-Based Cloud Services,” IEEE Global Humanitarian Technology Conference (GHTC), pp. 12–18, 2021.</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[13] N. A. Khan and P. Raj, “IoT-Based Real-Time Emergency Notification System,” IEEE 8th International Conference on Smart Computing and Communications (ICSCC), pp. 311–317, 2022.</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[14] R. Jain, S. Agarwal, and P. Sinha, “Smart City Emergency Response System Using Cloud IoT Integration,” IEEE International Conference on Emerging Trends in Engineering, Technology and Science (ICETETS), pp. 405–410, 2019.</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[15] D. Prakash, M. Balaji, and V. Srinivasan, “An IoT Based Accident Detection and Rescue Information System,” IEEE 2nd International Conference on Smart Electronics and Communication (ICOSEC), pp. 1500–1506, 2020.</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[16] T. R. Akshaya and R. Kannan, “IoT Enabled Smart Emergency Assistance System,” IEEE International Conference on IoT and Application (ICIOT), pp. 40–46, 2018.</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[17] A. Mehta and S. Joshi, “Cloud-Based Real-Time Alert Management for Disaster Response,” IEEE Transactions on Cloud Computing, vol. 8, no. 5, pp. 620–630, 2020.</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[18] M. R. Arif and J. Singh, “A Community-</a:t>
            </a:r>
            <a:r>
              <a:rPr lang="en-IN" b="1" dirty="0" err="1">
                <a:latin typeface="Times New Roman" panose="02020603050405020304" pitchFamily="18" charset="0"/>
                <a:cs typeface="Times New Roman" panose="02020603050405020304" pitchFamily="18" charset="0"/>
              </a:rPr>
              <a:t>Centered</a:t>
            </a:r>
            <a:r>
              <a:rPr lang="en-IN" b="1" dirty="0">
                <a:latin typeface="Times New Roman" panose="02020603050405020304" pitchFamily="18" charset="0"/>
                <a:cs typeface="Times New Roman" panose="02020603050405020304" pitchFamily="18" charset="0"/>
              </a:rPr>
              <a:t> Emergency Response Platform Using Cloud and IoT,” IEEE Smart Technologies for Emergency Response Conference, pp. 102–108, 2022</a:t>
            </a:r>
            <a:endParaRPr lang="en-IN" b="1"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7687"/>
            <a:ext cx="10515600" cy="5799276"/>
          </a:xfrm>
        </p:spPr>
        <p:txBody>
          <a:bodyPr>
            <a:normAutofit/>
          </a:bodyPr>
          <a:lstStyle/>
          <a:p>
            <a:r>
              <a:rPr lang="en-IN" sz="1600" dirty="0"/>
              <a:t>[19] V. B. Singh and P. Devi, “Real-Time Data Monitoring and Rescue System Using Firebase,” IEEE International Conference on Recent Trends in Electronics, Information &amp; Communication Technology (RTEICT), pp. 230–236, 2021.</a:t>
            </a:r>
            <a:endParaRPr lang="en-IN" sz="1600" dirty="0"/>
          </a:p>
          <a:p>
            <a:r>
              <a:rPr lang="en-IN" sz="1600" dirty="0"/>
              <a:t> </a:t>
            </a:r>
            <a:endParaRPr lang="en-IN" sz="1600" dirty="0"/>
          </a:p>
          <a:p>
            <a:r>
              <a:rPr lang="en-IN" sz="1600" dirty="0"/>
              <a:t>[20] A. George and K. Nair, “Real-Time Emergency Alerting and Tracking Using Web Technologies,” IEEE International Conference on Computational Intelligence and Computing Research (ICCIC), pp. 412–418, 2023.</a:t>
            </a:r>
            <a:endParaRPr lang="en-IN"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28171"/>
          </a:xfrm>
        </p:spPr>
        <p:txBody>
          <a:bodyPr/>
          <a:lstStyle/>
          <a:p>
            <a:pPr algn="ctr"/>
            <a:r>
              <a:rPr lang="en-US" b="1" dirty="0">
                <a:solidFill>
                  <a:srgbClr val="CC0000"/>
                </a:solidFill>
                <a:latin typeface="Times New Roman" panose="02020603050405020304" pitchFamily="18" charset="0"/>
                <a:cs typeface="Times New Roman" panose="02020603050405020304" pitchFamily="18" charset="0"/>
              </a:rPr>
              <a:t>THANK YOU</a:t>
            </a:r>
            <a:endParaRPr lang="en-IN" b="1" dirty="0">
              <a:solidFill>
                <a:srgbClr val="CC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13761</Words>
  <Application>WPS Presentation</Application>
  <PresentationFormat>Widescreen</PresentationFormat>
  <Paragraphs>143</Paragraphs>
  <Slides>23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23</vt:i4>
      </vt:variant>
    </vt:vector>
  </HeadingPairs>
  <TitlesOfParts>
    <vt:vector size="40" baseType="lpstr">
      <vt:lpstr>Arial</vt:lpstr>
      <vt:lpstr>SimSun</vt:lpstr>
      <vt:lpstr>Wingdings</vt:lpstr>
      <vt:lpstr>Times New Roman</vt:lpstr>
      <vt:lpstr>Times New Roman</vt:lpstr>
      <vt:lpstr>Calibri</vt:lpstr>
      <vt:lpstr>Arial</vt:lpstr>
      <vt:lpstr>Arial Black</vt:lpstr>
      <vt:lpstr>Arial Rounded</vt:lpstr>
      <vt:lpstr>Calibri</vt:lpstr>
      <vt:lpstr>Aptos Display</vt:lpstr>
      <vt:lpstr>Segoe UI Variable Display</vt:lpstr>
      <vt:lpstr>Aptos</vt:lpstr>
      <vt:lpstr>Segoe UI</vt:lpstr>
      <vt:lpstr>Microsoft YaHei</vt:lpstr>
      <vt:lpstr>Arial Unicode MS</vt:lpstr>
      <vt:lpstr>Office Theme</vt:lpstr>
      <vt:lpstr>RESCUE READY: Smart Web-Based Emergency                   Alert and Response System </vt:lpstr>
      <vt:lpstr>Problem statement</vt:lpstr>
      <vt:lpstr>PROPOSED SOLUTION </vt:lpstr>
      <vt:lpstr>IMPLEMENTATION PLAN </vt:lpstr>
      <vt:lpstr>CASE STUDY/BASE PAPER </vt:lpstr>
      <vt:lpstr>TARGETED USER </vt:lpstr>
      <vt:lpstr>FUTURE SCOPE </vt:lpstr>
      <vt:lpstr> MODULES </vt:lpstr>
      <vt:lpstr>PowerPoint 演示文稿</vt:lpstr>
      <vt:lpstr>PowerPoint 演示文稿</vt:lpstr>
      <vt:lpstr>PowerPoint 演示文稿</vt:lpstr>
      <vt:lpstr>ARCHITECTURE </vt:lpstr>
      <vt:lpstr> LITERATURE SURVEY </vt:lpstr>
      <vt:lpstr>PowerPoint 演示文稿</vt:lpstr>
      <vt:lpstr>PowerPoint 演示文稿</vt:lpstr>
      <vt:lpstr>OUTPUT</vt:lpstr>
      <vt:lpstr>PowerPoint 演示文稿</vt:lpstr>
      <vt:lpstr>PowerPoint 演示文稿</vt:lpstr>
      <vt:lpstr>PowerPoint 演示文稿</vt:lpstr>
      <vt:lpstr>REFERENCES </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s</dc:creator>
  <cp:lastModifiedBy>Pavithra Pavi</cp:lastModifiedBy>
  <cp:revision>4</cp:revision>
  <dcterms:created xsi:type="dcterms:W3CDTF">2025-10-27T13:22:00Z</dcterms:created>
  <dcterms:modified xsi:type="dcterms:W3CDTF">2025-10-27T14:44:43Z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7B414F6F888E40FCB4FF23962FBD67B6_13</vt:lpwstr>
  </property>
  <property fmtid="{D5CDD505-2E9C-101B-9397-08002B2CF9AE}" pid="3" name="KSOProductBuildVer">
    <vt:lpwstr>1033-12.2.0.23131</vt:lpwstr>
  </property>
</Properties>
</file>